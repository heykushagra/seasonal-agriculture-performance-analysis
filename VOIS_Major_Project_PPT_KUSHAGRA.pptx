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44" r:id="rId10"/>
    <p:sldId id="345" r:id="rId11"/>
    <p:sldId id="349" r:id="rId12"/>
    <p:sldId id="347" r:id="rId13"/>
    <p:sldId id="350" r:id="rId14"/>
    <p:sldId id="351" r:id="rId15"/>
    <p:sldId id="352" r:id="rId16"/>
    <p:sldId id="340"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518" autoAdjust="0"/>
    <p:restoredTop sz="95033" autoAdjust="0"/>
  </p:normalViewPr>
  <p:slideViewPr>
    <p:cSldViewPr snapToGrid="0">
      <p:cViewPr>
        <p:scale>
          <a:sx n="61" d="100"/>
          <a:sy n="61" d="100"/>
        </p:scale>
        <p:origin x="596" y="22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heyKushagra/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84740" y="3588198"/>
            <a:ext cx="4268684" cy="861497"/>
          </a:xfrm>
        </p:spPr>
        <p:txBody>
          <a:bodyPr vert="horz" lIns="91440" tIns="45720" rIns="91440" bIns="45720" rtlCol="0" anchor="t">
            <a:normAutofit/>
          </a:bodyPr>
          <a:lstStyle/>
          <a:p>
            <a:r>
              <a:rPr lang="en-US" b="0" dirty="0">
                <a:solidFill>
                  <a:schemeClr val="tx1"/>
                </a:solidFill>
              </a:rPr>
              <a:t>KUSHAGRA SRIVASTAVA</a:t>
            </a:r>
            <a:endParaRPr lang="en-IN" b="0" dirty="0">
              <a:solidFill>
                <a:schemeClr val="tx1"/>
              </a:solidFill>
            </a:endParaRPr>
          </a:p>
          <a:p>
            <a:r>
              <a:rPr lang="en-US" b="0" dirty="0">
                <a:solidFill>
                  <a:schemeClr val="tx1"/>
                </a:solidFill>
              </a:rPr>
              <a:t>BABU BANARASI DAS UNIVERSITY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49"/>
            <a:ext cx="10828897" cy="937515"/>
          </a:xfrm>
        </p:spPr>
        <p:txBody>
          <a:bodyPr>
            <a:normAutofit/>
          </a:bodyPr>
          <a:lstStyle/>
          <a:p>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6" y="4573092"/>
            <a:ext cx="5281499" cy="369314"/>
          </a:xfrm>
          <a:prstGeom prst="rect">
            <a:avLst/>
          </a:prstGeom>
          <a:noFill/>
        </p:spPr>
        <p:txBody>
          <a:bodyPr wrap="square" rtlCol="0">
            <a:spAutoFit/>
          </a:bodyPr>
          <a:lstStyle/>
          <a:p>
            <a:r>
              <a:rPr lang="en-US" b="1" dirty="0"/>
              <a:t>AICTE STU ID : STU67a59764a6edf1738905444</a:t>
            </a:r>
          </a:p>
        </p:txBody>
      </p:sp>
      <p:sp>
        <p:nvSpPr>
          <p:cNvPr id="5" name="Rectangle 1">
            <a:extLst>
              <a:ext uri="{FF2B5EF4-FFF2-40B4-BE49-F238E27FC236}">
                <a16:creationId xmlns:a16="http://schemas.microsoft.com/office/drawing/2014/main" id="{4FE1A877-9AB1-9448-E26D-1BAC86F380DA}"/>
              </a:ext>
            </a:extLst>
          </p:cNvPr>
          <p:cNvSpPr>
            <a:spLocks noChangeArrowheads="1"/>
          </p:cNvSpPr>
          <p:nvPr/>
        </p:nvSpPr>
        <p:spPr bwMode="auto">
          <a:xfrm>
            <a:off x="0" y="101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Google Sans Text"/>
              </a:rPr>
              <a:t>STU67a59764a6edf1738905444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7146" y="1969305"/>
            <a:ext cx="7238538" cy="4135931"/>
          </a:xfrm>
        </p:spPr>
        <p:txBody>
          <a:bodyPr vert="horz" lIns="91440" tIns="45720" rIns="91440" bIns="45720" rtlCol="0" anchor="t">
            <a:normAutofit fontScale="62500" lnSpcReduction="20000"/>
          </a:bodyPr>
          <a:lstStyle/>
          <a:p>
            <a:pPr>
              <a:lnSpc>
                <a:spcPct val="15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a:t>
            </a:r>
          </a:p>
          <a:p>
            <a:pPr>
              <a:lnSpc>
                <a:spcPct val="150000"/>
              </a:lnSpc>
            </a:pPr>
            <a:r>
              <a:rPr lang="en-US" sz="2800" dirty="0"/>
              <a:t>The problem is to analyze the given agricultural dataset and investigate seasonal differences in agricultural performance by identifying meaningful patterns, trends, relationships and variations within the available data. </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Rectangle 1">
            <a:extLst>
              <a:ext uri="{FF2B5EF4-FFF2-40B4-BE49-F238E27FC236}">
                <a16:creationId xmlns:a16="http://schemas.microsoft.com/office/drawing/2014/main" id="{D6F83962-9450-F719-2E99-29C36CDC3CA6}"/>
              </a:ext>
            </a:extLst>
          </p:cNvPr>
          <p:cNvSpPr>
            <a:spLocks noChangeArrowheads="1"/>
          </p:cNvSpPr>
          <p:nvPr/>
        </p:nvSpPr>
        <p:spPr bwMode="auto">
          <a:xfrm>
            <a:off x="565822" y="2106643"/>
            <a:ext cx="8448869" cy="3728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This project </a:t>
            </a:r>
            <a:r>
              <a:rPr lang="en-US" altLang="en-US" sz="2000" dirty="0">
                <a:latin typeface="Arial" panose="020B0604020202020204" pitchFamily="34" charset="0"/>
              </a:rPr>
              <a:t>u</a:t>
            </a:r>
            <a:r>
              <a:rPr kumimoji="0" lang="en-US" altLang="en-US" sz="2000" b="0" i="0" u="none" strike="noStrike" cap="none" normalizeH="0" baseline="0" dirty="0">
                <a:ln>
                  <a:noFill/>
                </a:ln>
                <a:solidFill>
                  <a:schemeClr val="tx1"/>
                </a:solidFill>
                <a:effectLst/>
                <a:latin typeface="Arial" panose="020B0604020202020204" pitchFamily="34" charset="0"/>
              </a:rPr>
              <a:t>ses data cleaning, statistical analysis, and visualization to identify </a:t>
            </a:r>
            <a:r>
              <a:rPr kumimoji="0" lang="en-US" altLang="en-US" sz="2000" b="1" i="0" u="none" strike="noStrike" cap="none" normalizeH="0" baseline="0" dirty="0">
                <a:ln>
                  <a:noFill/>
                </a:ln>
                <a:solidFill>
                  <a:schemeClr val="tx1"/>
                </a:solidFill>
                <a:effectLst/>
                <a:latin typeface="Arial" panose="020B0604020202020204" pitchFamily="34" charset="0"/>
              </a:rPr>
              <a:t>seasonal patterns, trends, relationships and variations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Analyzes agricultural data across different </a:t>
            </a:r>
            <a:r>
              <a:rPr kumimoji="0" lang="en-US" altLang="en-US" sz="2000" b="1" i="0" u="none" strike="noStrike" cap="none" normalizeH="0" baseline="0" dirty="0">
                <a:ln>
                  <a:noFill/>
                </a:ln>
                <a:solidFill>
                  <a:schemeClr val="tx1"/>
                </a:solidFill>
                <a:effectLst/>
                <a:latin typeface="Arial" panose="020B0604020202020204" pitchFamily="34" charset="0"/>
              </a:rPr>
              <a:t>seasons, regions, and farming conditions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Examines variations in </a:t>
            </a:r>
            <a:r>
              <a:rPr kumimoji="0" lang="en-US" altLang="en-US" sz="2000" b="1" i="0" u="none" strike="noStrike" cap="none" normalizeH="0" baseline="0" dirty="0">
                <a:ln>
                  <a:noFill/>
                </a:ln>
                <a:solidFill>
                  <a:schemeClr val="tx1"/>
                </a:solidFill>
                <a:effectLst/>
                <a:latin typeface="Arial" panose="020B0604020202020204" pitchFamily="34" charset="0"/>
              </a:rPr>
              <a:t>crop production, environmental conditions, resource usage and economic performance</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Generates </a:t>
            </a:r>
            <a:r>
              <a:rPr kumimoji="0" lang="en-US" altLang="en-US" sz="2000" b="1" i="0" u="none" strike="noStrike" cap="none" normalizeH="0" baseline="0" dirty="0">
                <a:ln>
                  <a:noFill/>
                </a:ln>
                <a:solidFill>
                  <a:schemeClr val="tx1"/>
                </a:solidFill>
                <a:effectLst/>
                <a:latin typeface="Arial" panose="020B0604020202020204" pitchFamily="34" charset="0"/>
              </a:rPr>
              <a:t>data driven insights and recommendations</a:t>
            </a:r>
            <a:r>
              <a:rPr kumimoji="0" lang="en-US" altLang="en-US" sz="2000" b="0" i="0" u="none" strike="noStrike" cap="none" normalizeH="0" baseline="0" dirty="0">
                <a:ln>
                  <a:noFill/>
                </a:ln>
                <a:solidFill>
                  <a:schemeClr val="tx1"/>
                </a:solidFill>
                <a:effectLst/>
                <a:latin typeface="Arial" panose="020B0604020202020204" pitchFamily="34" charset="0"/>
              </a:rPr>
              <a:t> to support better understanding of seasonal agricultural performance </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62500" lnSpcReduction="20000"/>
          </a:bodyPr>
          <a:lstStyle/>
          <a:p>
            <a:pPr marL="0" indent="0">
              <a:buNone/>
            </a:pPr>
            <a:r>
              <a:rPr lang="en-US" sz="4500" b="1" dirty="0"/>
              <a:t>Potential End Users</a:t>
            </a:r>
            <a:endParaRPr lang="en-US" sz="4500" dirty="0"/>
          </a:p>
          <a:p>
            <a:r>
              <a:rPr lang="en-US" sz="3600" dirty="0"/>
              <a:t>👨‍🌾</a:t>
            </a:r>
            <a:r>
              <a:rPr lang="en-US" sz="3600" b="1" dirty="0"/>
              <a:t>Farmers</a:t>
            </a:r>
            <a:r>
              <a:rPr lang="en-US" sz="3600" dirty="0"/>
              <a:t> — Understand seasonal patterns and agricultural performance. </a:t>
            </a:r>
          </a:p>
          <a:p>
            <a:r>
              <a:rPr lang="en-US" sz="3600" dirty="0"/>
              <a:t>🏛️</a:t>
            </a:r>
            <a:r>
              <a:rPr lang="en-US" sz="3600" b="1" dirty="0"/>
              <a:t>Agricultural Departments</a:t>
            </a:r>
            <a:r>
              <a:rPr lang="en-US" sz="3600" dirty="0"/>
              <a:t> — Support evidence-based agricultural planning. </a:t>
            </a:r>
          </a:p>
          <a:p>
            <a:r>
              <a:rPr lang="en-US" sz="3600" dirty="0"/>
              <a:t>📊</a:t>
            </a:r>
            <a:r>
              <a:rPr lang="en-US" sz="3600" b="1" dirty="0"/>
              <a:t>Agricultural Analysts &amp; Researchers</a:t>
            </a:r>
            <a:r>
              <a:rPr lang="en-US" sz="3600" dirty="0"/>
              <a:t> — Study trends and relationships in agricultural data. </a:t>
            </a:r>
          </a:p>
          <a:p>
            <a:r>
              <a:rPr lang="en-US" sz="3600" dirty="0"/>
              <a:t>🌾</a:t>
            </a:r>
            <a:r>
              <a:rPr lang="en-US" sz="3600" b="1" dirty="0"/>
              <a:t>Agricultural Planners</a:t>
            </a:r>
            <a:r>
              <a:rPr lang="en-US" sz="3600" dirty="0"/>
              <a:t> — Compare seasonal conditions and resource usage. </a:t>
            </a:r>
          </a:p>
          <a:p>
            <a:r>
              <a:rPr lang="en-US" sz="3600" dirty="0"/>
              <a:t>🎓</a:t>
            </a:r>
            <a:r>
              <a:rPr lang="en-US" sz="3600" b="1" dirty="0"/>
              <a:t>Students &amp; Academics</a:t>
            </a:r>
            <a:r>
              <a:rPr lang="en-US" sz="3600" dirty="0"/>
              <a:t> — Use agricultural data for analysis and research.</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1" y="4056593"/>
            <a:ext cx="1542472" cy="2808818"/>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803563" y="1396998"/>
            <a:ext cx="8682183" cy="5013463"/>
          </a:xfrm>
        </p:spPr>
        <p:txBody>
          <a:bodyPr/>
          <a:lstStyle/>
          <a:p>
            <a:pPr marL="0" indent="0">
              <a:buNone/>
            </a:pPr>
            <a:r>
              <a:rPr lang="en-IN" sz="2800" b="1" dirty="0"/>
              <a:t>Tools &amp; Technologies</a:t>
            </a:r>
            <a:endParaRPr lang="en-IN" sz="2800" dirty="0"/>
          </a:p>
          <a:p>
            <a:r>
              <a:rPr lang="en-IN" b="1" dirty="0"/>
              <a:t>Python</a:t>
            </a:r>
            <a:r>
              <a:rPr lang="en-IN" dirty="0"/>
              <a:t> — Data analysis and processing </a:t>
            </a:r>
          </a:p>
          <a:p>
            <a:r>
              <a:rPr lang="en-IN" b="1" dirty="0"/>
              <a:t>Pandas &amp; NumPy</a:t>
            </a:r>
            <a:r>
              <a:rPr lang="en-IN" dirty="0"/>
              <a:t> — Data cleaning and manipulation </a:t>
            </a:r>
          </a:p>
          <a:p>
            <a:r>
              <a:rPr lang="en-IN" b="1" dirty="0"/>
              <a:t>Matplotlib / Seaborn</a:t>
            </a:r>
            <a:r>
              <a:rPr lang="en-IN" dirty="0"/>
              <a:t> — Data visualization </a:t>
            </a:r>
          </a:p>
          <a:p>
            <a:r>
              <a:rPr lang="en-IN" b="1" dirty="0" err="1"/>
              <a:t>Jupyter</a:t>
            </a:r>
            <a:r>
              <a:rPr lang="en-IN" b="1" dirty="0"/>
              <a:t> Notebook / Google </a:t>
            </a:r>
            <a:r>
              <a:rPr lang="en-IN" b="1" dirty="0" err="1"/>
              <a:t>Colab</a:t>
            </a:r>
            <a:r>
              <a:rPr lang="en-IN" dirty="0"/>
              <a:t> — Project development and analysis </a:t>
            </a:r>
          </a:p>
          <a:p>
            <a:r>
              <a:rPr lang="en-IN" b="1" dirty="0"/>
              <a:t>Statistical Analysis</a:t>
            </a:r>
            <a:r>
              <a:rPr lang="en-IN" dirty="0"/>
              <a:t> — Identifying patterns, trends, relationships, and variations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C2C62806-D332-0BD8-F165-28A207EDFC13}"/>
              </a:ext>
            </a:extLst>
          </p:cNvPr>
          <p:cNvPicPr>
            <a:picLocks noChangeAspect="1"/>
          </p:cNvPicPr>
          <p:nvPr/>
        </p:nvPicPr>
        <p:blipFill>
          <a:blip r:embed="rId3"/>
          <a:stretch>
            <a:fillRect/>
          </a:stretch>
        </p:blipFill>
        <p:spPr>
          <a:xfrm>
            <a:off x="195667" y="1443238"/>
            <a:ext cx="4958224" cy="3512978"/>
          </a:xfrm>
          <a:prstGeom prst="rect">
            <a:avLst/>
          </a:prstGeom>
        </p:spPr>
      </p:pic>
      <p:pic>
        <p:nvPicPr>
          <p:cNvPr id="9" name="Picture 8">
            <a:extLst>
              <a:ext uri="{FF2B5EF4-FFF2-40B4-BE49-F238E27FC236}">
                <a16:creationId xmlns:a16="http://schemas.microsoft.com/office/drawing/2014/main" id="{C493023A-9C16-745D-E14C-87D9E28C630E}"/>
              </a:ext>
            </a:extLst>
          </p:cNvPr>
          <p:cNvPicPr>
            <a:picLocks noChangeAspect="1"/>
          </p:cNvPicPr>
          <p:nvPr/>
        </p:nvPicPr>
        <p:blipFill>
          <a:blip r:embed="rId4"/>
          <a:stretch>
            <a:fillRect/>
          </a:stretch>
        </p:blipFill>
        <p:spPr>
          <a:xfrm>
            <a:off x="5417752" y="1562442"/>
            <a:ext cx="6681884" cy="328492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441C397-9DE4-E60E-07E1-75D81B076D06}"/>
              </a:ext>
            </a:extLst>
          </p:cNvPr>
          <p:cNvPicPr>
            <a:picLocks noChangeAspect="1"/>
          </p:cNvPicPr>
          <p:nvPr/>
        </p:nvPicPr>
        <p:blipFill>
          <a:blip r:embed="rId3"/>
          <a:stretch>
            <a:fillRect/>
          </a:stretch>
        </p:blipFill>
        <p:spPr>
          <a:xfrm>
            <a:off x="675957" y="1275371"/>
            <a:ext cx="4738892" cy="2902007"/>
          </a:xfrm>
          <a:prstGeom prst="rect">
            <a:avLst/>
          </a:prstGeom>
          <a:ln>
            <a:solidFill>
              <a:schemeClr val="tx1"/>
            </a:solidFill>
          </a:ln>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867D919C-D410-0136-EFCA-A4EE9B40C829}"/>
              </a:ext>
            </a:extLst>
          </p:cNvPr>
          <p:cNvPicPr>
            <a:picLocks noChangeAspect="1"/>
          </p:cNvPicPr>
          <p:nvPr/>
        </p:nvPicPr>
        <p:blipFill>
          <a:blip r:embed="rId4"/>
          <a:stretch>
            <a:fillRect/>
          </a:stretch>
        </p:blipFill>
        <p:spPr>
          <a:xfrm>
            <a:off x="6096000" y="1227377"/>
            <a:ext cx="4817265" cy="2950001"/>
          </a:xfrm>
          <a:prstGeom prst="rect">
            <a:avLst/>
          </a:prstGeom>
          <a:ln>
            <a:solidFill>
              <a:schemeClr val="tx1"/>
            </a:solidFill>
          </a:ln>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4423AA54-B894-CF9A-8565-D641429A3A3C}"/>
              </a:ext>
            </a:extLst>
          </p:cNvPr>
          <p:cNvPicPr>
            <a:picLocks noChangeAspect="1"/>
          </p:cNvPicPr>
          <p:nvPr/>
        </p:nvPicPr>
        <p:blipFill>
          <a:blip r:embed="rId5"/>
          <a:stretch>
            <a:fillRect/>
          </a:stretch>
        </p:blipFill>
        <p:spPr>
          <a:xfrm>
            <a:off x="3775960" y="4237523"/>
            <a:ext cx="4289908" cy="2620477"/>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A5E07-F0EF-DD5F-E074-E3DE0511449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A67E305-091A-5F69-345F-50E130A4355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D142FA8-B707-CF93-9CB8-C9D34218849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FE09A1B-359C-77DD-B7E2-B9317BB8333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BFDAA0B-7FDA-CD2F-171D-DFA9BE0F16A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EE0126A-98C8-3001-95C9-7FFB98237DB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84D759B-F2F7-BAE4-A368-CD3A670B4823}"/>
              </a:ext>
            </a:extLst>
          </p:cNvPr>
          <p:cNvPicPr>
            <a:picLocks noChangeAspect="1"/>
          </p:cNvPicPr>
          <p:nvPr/>
        </p:nvPicPr>
        <p:blipFill>
          <a:blip r:embed="rId3"/>
          <a:stretch>
            <a:fillRect/>
          </a:stretch>
        </p:blipFill>
        <p:spPr>
          <a:xfrm>
            <a:off x="807164" y="1201586"/>
            <a:ext cx="5470245" cy="5133959"/>
          </a:xfrm>
          <a:prstGeom prst="rect">
            <a:avLst/>
          </a:prstGeom>
        </p:spPr>
      </p:pic>
    </p:spTree>
    <p:extLst>
      <p:ext uri="{BB962C8B-B14F-4D97-AF65-F5344CB8AC3E}">
        <p14:creationId xmlns:p14="http://schemas.microsoft.com/office/powerpoint/2010/main" val="3722352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86135-C25E-4F04-1A34-8FFCAC54144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4A0E27D-FFB4-46D1-A3B4-FA2E3631554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8B18324-8B49-7A87-61E7-AF217DA46B5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4164720-3D0B-31D7-D2FF-2EBA2FB28AA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141B4F1-202D-10BA-48D3-328B13448DF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A15ED55-0EC4-7D06-CBB1-2EF07D0E82BC}"/>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6A7257A0-9565-9233-C6C2-175C7C6FCA6A}"/>
              </a:ext>
            </a:extLst>
          </p:cNvPr>
          <p:cNvPicPr>
            <a:picLocks noChangeAspect="1"/>
          </p:cNvPicPr>
          <p:nvPr/>
        </p:nvPicPr>
        <p:blipFill>
          <a:blip r:embed="rId3"/>
          <a:stretch>
            <a:fillRect/>
          </a:stretch>
        </p:blipFill>
        <p:spPr>
          <a:xfrm>
            <a:off x="807164" y="1275371"/>
            <a:ext cx="4994546" cy="3050105"/>
          </a:xfrm>
          <a:prstGeom prst="rect">
            <a:avLst/>
          </a:prstGeom>
        </p:spPr>
      </p:pic>
      <p:pic>
        <p:nvPicPr>
          <p:cNvPr id="9" name="Picture 8">
            <a:extLst>
              <a:ext uri="{FF2B5EF4-FFF2-40B4-BE49-F238E27FC236}">
                <a16:creationId xmlns:a16="http://schemas.microsoft.com/office/drawing/2014/main" id="{40D3840D-B3E8-1602-7EC1-8BF1AA6EA3DE}"/>
              </a:ext>
            </a:extLst>
          </p:cNvPr>
          <p:cNvPicPr>
            <a:picLocks noChangeAspect="1"/>
          </p:cNvPicPr>
          <p:nvPr/>
        </p:nvPicPr>
        <p:blipFill>
          <a:blip r:embed="rId4"/>
          <a:stretch>
            <a:fillRect/>
          </a:stretch>
        </p:blipFill>
        <p:spPr>
          <a:xfrm>
            <a:off x="6482861" y="1201586"/>
            <a:ext cx="4716906" cy="2960515"/>
          </a:xfrm>
          <a:prstGeom prst="rect">
            <a:avLst/>
          </a:prstGeom>
        </p:spPr>
      </p:pic>
    </p:spTree>
    <p:extLst>
      <p:ext uri="{BB962C8B-B14F-4D97-AF65-F5344CB8AC3E}">
        <p14:creationId xmlns:p14="http://schemas.microsoft.com/office/powerpoint/2010/main" val="1172310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7CF47-FCCB-2BC6-E386-8F11CCC60C9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6E50EAA-6658-7CF2-22FD-9D7CC841BFE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54E9AEE-599D-FE4A-621F-BB850C434BD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FA9E42B-6FFB-B5F9-9245-020157958A6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76794C1-5F50-DCF2-3BC0-56DE5A4B907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D465A85-BB05-61B4-D25C-F3534134547C}"/>
              </a:ext>
            </a:extLst>
          </p:cNvPr>
          <p:cNvSpPr>
            <a:spLocks noGrp="1"/>
          </p:cNvSpPr>
          <p:nvPr>
            <p:ph type="body" sz="quarter" idx="12"/>
          </p:nvPr>
        </p:nvSpPr>
        <p:spPr>
          <a:xfrm>
            <a:off x="4906648" y="724066"/>
            <a:ext cx="2221652" cy="477520"/>
          </a:xfrm>
        </p:spPr>
        <p:txBody>
          <a:bodyPr/>
          <a:lstStyle/>
          <a:p>
            <a:pPr marL="0" indent="0">
              <a:buNone/>
            </a:pPr>
            <a:r>
              <a:rPr lang="en-US" dirty="0"/>
              <a:t>Bivariate Analysis</a:t>
            </a:r>
            <a:endParaRPr lang="en-IN" dirty="0"/>
          </a:p>
        </p:txBody>
      </p:sp>
      <p:pic>
        <p:nvPicPr>
          <p:cNvPr id="3" name="Picture 2">
            <a:extLst>
              <a:ext uri="{FF2B5EF4-FFF2-40B4-BE49-F238E27FC236}">
                <a16:creationId xmlns:a16="http://schemas.microsoft.com/office/drawing/2014/main" id="{0B18D20E-FD11-7088-42F5-6C1F0B438703}"/>
              </a:ext>
            </a:extLst>
          </p:cNvPr>
          <p:cNvPicPr>
            <a:picLocks noChangeAspect="1"/>
          </p:cNvPicPr>
          <p:nvPr/>
        </p:nvPicPr>
        <p:blipFill>
          <a:blip r:embed="rId3"/>
          <a:stretch>
            <a:fillRect/>
          </a:stretch>
        </p:blipFill>
        <p:spPr>
          <a:xfrm>
            <a:off x="849407" y="1107206"/>
            <a:ext cx="4746510" cy="2911914"/>
          </a:xfrm>
          <a:prstGeom prst="rect">
            <a:avLst/>
          </a:prstGeom>
          <a:ln>
            <a:solidFill>
              <a:schemeClr val="tx1"/>
            </a:solidFill>
          </a:ln>
        </p:spPr>
      </p:pic>
      <p:pic>
        <p:nvPicPr>
          <p:cNvPr id="9" name="Picture 8">
            <a:extLst>
              <a:ext uri="{FF2B5EF4-FFF2-40B4-BE49-F238E27FC236}">
                <a16:creationId xmlns:a16="http://schemas.microsoft.com/office/drawing/2014/main" id="{EA96071E-D315-9D6B-107E-79FA95092F1E}"/>
              </a:ext>
            </a:extLst>
          </p:cNvPr>
          <p:cNvPicPr>
            <a:picLocks noChangeAspect="1"/>
          </p:cNvPicPr>
          <p:nvPr/>
        </p:nvPicPr>
        <p:blipFill>
          <a:blip r:embed="rId4"/>
          <a:stretch>
            <a:fillRect/>
          </a:stretch>
        </p:blipFill>
        <p:spPr>
          <a:xfrm>
            <a:off x="6277068" y="1079399"/>
            <a:ext cx="4897821" cy="3041314"/>
          </a:xfrm>
          <a:prstGeom prst="rect">
            <a:avLst/>
          </a:prstGeom>
          <a:ln>
            <a:solidFill>
              <a:schemeClr val="tx1"/>
            </a:solidFill>
          </a:ln>
        </p:spPr>
      </p:pic>
      <p:pic>
        <p:nvPicPr>
          <p:cNvPr id="12" name="Picture 11">
            <a:extLst>
              <a:ext uri="{FF2B5EF4-FFF2-40B4-BE49-F238E27FC236}">
                <a16:creationId xmlns:a16="http://schemas.microsoft.com/office/drawing/2014/main" id="{33D7E0E5-7CF7-963E-E568-31C5FB27C4CA}"/>
              </a:ext>
            </a:extLst>
          </p:cNvPr>
          <p:cNvPicPr>
            <a:picLocks noChangeAspect="1"/>
          </p:cNvPicPr>
          <p:nvPr/>
        </p:nvPicPr>
        <p:blipFill>
          <a:blip r:embed="rId5"/>
          <a:stretch>
            <a:fillRect/>
          </a:stretch>
        </p:blipFill>
        <p:spPr>
          <a:xfrm>
            <a:off x="3657600" y="4222305"/>
            <a:ext cx="4240623" cy="2633225"/>
          </a:xfrm>
          <a:prstGeom prst="rect">
            <a:avLst/>
          </a:prstGeom>
          <a:ln>
            <a:solidFill>
              <a:schemeClr val="tx1"/>
            </a:solidFill>
          </a:ln>
        </p:spPr>
      </p:pic>
    </p:spTree>
    <p:extLst>
      <p:ext uri="{BB962C8B-B14F-4D97-AF65-F5344CB8AC3E}">
        <p14:creationId xmlns:p14="http://schemas.microsoft.com/office/powerpoint/2010/main" val="1739661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B59B0-64B2-B235-851E-7084F58E3F1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5ED18B3-01E5-494A-D619-C735DC6DA31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EE5341B-F4FA-246C-460B-0326C9D61ED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75922D2-88AA-0A86-37A6-686A6C992BC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5835662-3B23-42AD-4366-43A6CC00EC6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AAF248BB-E9CB-30E1-3057-116FAABBBECA}"/>
              </a:ext>
            </a:extLst>
          </p:cNvPr>
          <p:cNvSpPr>
            <a:spLocks noGrp="1"/>
          </p:cNvSpPr>
          <p:nvPr>
            <p:ph type="body" sz="quarter" idx="12"/>
          </p:nvPr>
        </p:nvSpPr>
        <p:spPr>
          <a:xfrm>
            <a:off x="807164" y="1431693"/>
            <a:ext cx="4275138" cy="477520"/>
          </a:xfrm>
        </p:spPr>
        <p:txBody>
          <a:bodyPr/>
          <a:lstStyle/>
          <a:p>
            <a:pPr marL="0" indent="0">
              <a:buNone/>
            </a:pPr>
            <a:r>
              <a:rPr lang="en-US" dirty="0"/>
              <a:t>Univariate Analysis</a:t>
            </a:r>
            <a:endParaRPr lang="en-IN" dirty="0"/>
          </a:p>
        </p:txBody>
      </p:sp>
      <p:pic>
        <p:nvPicPr>
          <p:cNvPr id="3" name="Picture 2">
            <a:extLst>
              <a:ext uri="{FF2B5EF4-FFF2-40B4-BE49-F238E27FC236}">
                <a16:creationId xmlns:a16="http://schemas.microsoft.com/office/drawing/2014/main" id="{D1A6A8D4-7F8D-7622-69C4-E194B1EA6AF8}"/>
              </a:ext>
            </a:extLst>
          </p:cNvPr>
          <p:cNvPicPr>
            <a:picLocks noChangeAspect="1"/>
          </p:cNvPicPr>
          <p:nvPr/>
        </p:nvPicPr>
        <p:blipFill>
          <a:blip r:embed="rId3"/>
          <a:stretch>
            <a:fillRect/>
          </a:stretch>
        </p:blipFill>
        <p:spPr>
          <a:xfrm>
            <a:off x="562390" y="1275371"/>
            <a:ext cx="5533610" cy="2733217"/>
          </a:xfrm>
          <a:prstGeom prst="rect">
            <a:avLst/>
          </a:prstGeom>
        </p:spPr>
      </p:pic>
      <p:pic>
        <p:nvPicPr>
          <p:cNvPr id="9" name="Picture 8">
            <a:extLst>
              <a:ext uri="{FF2B5EF4-FFF2-40B4-BE49-F238E27FC236}">
                <a16:creationId xmlns:a16="http://schemas.microsoft.com/office/drawing/2014/main" id="{96164BA5-56FA-DE9A-2937-1CA0903A4C7F}"/>
              </a:ext>
            </a:extLst>
          </p:cNvPr>
          <p:cNvPicPr>
            <a:picLocks noChangeAspect="1"/>
          </p:cNvPicPr>
          <p:nvPr/>
        </p:nvPicPr>
        <p:blipFill>
          <a:blip r:embed="rId4"/>
          <a:stretch>
            <a:fillRect/>
          </a:stretch>
        </p:blipFill>
        <p:spPr>
          <a:xfrm>
            <a:off x="6481166" y="1120122"/>
            <a:ext cx="5533610" cy="2758370"/>
          </a:xfrm>
          <a:prstGeom prst="rect">
            <a:avLst/>
          </a:prstGeom>
        </p:spPr>
      </p:pic>
    </p:spTree>
    <p:extLst>
      <p:ext uri="{BB962C8B-B14F-4D97-AF65-F5344CB8AC3E}">
        <p14:creationId xmlns:p14="http://schemas.microsoft.com/office/powerpoint/2010/main" val="497709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2E83C-801F-7B6A-B739-9BB19B2B85C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ADE3DD7-4129-3801-8576-250F58FA49F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028F3BD-C927-4A83-F44E-79DFD9A0E28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2CE53B1-69F4-BC79-3372-B96C5B6C4CE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741E49C-E435-378C-9569-56AD5160B37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E886E21-9112-EF01-5DAD-83D7582149A1}"/>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6" name="Picture 5">
            <a:extLst>
              <a:ext uri="{FF2B5EF4-FFF2-40B4-BE49-F238E27FC236}">
                <a16:creationId xmlns:a16="http://schemas.microsoft.com/office/drawing/2014/main" id="{7F7467E5-4253-4408-FDA5-A115EF8312B4}"/>
              </a:ext>
            </a:extLst>
          </p:cNvPr>
          <p:cNvPicPr>
            <a:picLocks noChangeAspect="1"/>
          </p:cNvPicPr>
          <p:nvPr/>
        </p:nvPicPr>
        <p:blipFill>
          <a:blip r:embed="rId3"/>
          <a:stretch>
            <a:fillRect/>
          </a:stretch>
        </p:blipFill>
        <p:spPr>
          <a:xfrm>
            <a:off x="807164" y="1304945"/>
            <a:ext cx="8336836" cy="4954768"/>
          </a:xfrm>
          <a:prstGeom prst="rect">
            <a:avLst/>
          </a:prstGeom>
        </p:spPr>
      </p:pic>
    </p:spTree>
    <p:extLst>
      <p:ext uri="{BB962C8B-B14F-4D97-AF65-F5344CB8AC3E}">
        <p14:creationId xmlns:p14="http://schemas.microsoft.com/office/powerpoint/2010/main" val="191925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3B256F3E-BA6A-6EF0-904A-AFEE611DAF52}"/>
              </a:ext>
            </a:extLst>
          </p:cNvPr>
          <p:cNvPicPr>
            <a:picLocks noChangeAspect="1"/>
          </p:cNvPicPr>
          <p:nvPr/>
        </p:nvPicPr>
        <p:blipFill>
          <a:blip r:embed="rId3"/>
          <a:stretch>
            <a:fillRect/>
          </a:stretch>
        </p:blipFill>
        <p:spPr>
          <a:xfrm>
            <a:off x="807164" y="1275371"/>
            <a:ext cx="10331981" cy="4915153"/>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675957" y="1361354"/>
            <a:ext cx="9714952" cy="4827933"/>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lnSpc>
                <a:spcPct val="150000"/>
              </a:lnSpc>
            </a:pPr>
            <a:r>
              <a:rPr lang="en-US" sz="2400" b="1" dirty="0"/>
              <a:t>Future Enhancements</a:t>
            </a:r>
            <a:endParaRPr lang="en-US" sz="2400" dirty="0"/>
          </a:p>
          <a:p>
            <a:pPr marL="342900" indent="-342900" algn="l">
              <a:lnSpc>
                <a:spcPct val="150000"/>
              </a:lnSpc>
              <a:buFont typeface="Wingdings" panose="05000000000000000000" pitchFamily="2" charset="2"/>
              <a:buChar char="§"/>
            </a:pPr>
            <a:r>
              <a:rPr lang="en-US" sz="2000" dirty="0"/>
              <a:t>Integrate </a:t>
            </a:r>
            <a:r>
              <a:rPr lang="en-US" sz="2000" b="1" dirty="0"/>
              <a:t>real-time weather and environmental data</a:t>
            </a:r>
            <a:r>
              <a:rPr lang="en-US" sz="2000" dirty="0"/>
              <a:t>. </a:t>
            </a:r>
          </a:p>
          <a:p>
            <a:pPr marL="342900" indent="-342900" algn="l">
              <a:lnSpc>
                <a:spcPct val="150000"/>
              </a:lnSpc>
              <a:buFont typeface="Wingdings" panose="05000000000000000000" pitchFamily="2" charset="2"/>
              <a:buChar char="§"/>
            </a:pPr>
            <a:r>
              <a:rPr lang="en-US" sz="2000" dirty="0"/>
              <a:t>Expand analysis across </a:t>
            </a:r>
            <a:r>
              <a:rPr lang="en-US" sz="2000" b="1" dirty="0"/>
              <a:t>more regions, crops, and seasons</a:t>
            </a:r>
            <a:r>
              <a:rPr lang="en-US" sz="2000" dirty="0"/>
              <a:t>. </a:t>
            </a:r>
          </a:p>
          <a:p>
            <a:pPr marL="342900" indent="-342900" algn="l">
              <a:lnSpc>
                <a:spcPct val="150000"/>
              </a:lnSpc>
              <a:buFont typeface="Wingdings" panose="05000000000000000000" pitchFamily="2" charset="2"/>
              <a:buChar char="§"/>
            </a:pPr>
            <a:r>
              <a:rPr lang="en-US" sz="2000" dirty="0"/>
              <a:t>Apply </a:t>
            </a:r>
            <a:r>
              <a:rPr lang="en-US" sz="2000" b="1" dirty="0"/>
              <a:t>machine learning models</a:t>
            </a:r>
            <a:r>
              <a:rPr lang="en-US" sz="2000" dirty="0"/>
              <a:t> for agricultural performance and yield prediction. </a:t>
            </a:r>
          </a:p>
          <a:p>
            <a:pPr marL="342900" indent="-342900" algn="l">
              <a:lnSpc>
                <a:spcPct val="150000"/>
              </a:lnSpc>
              <a:buFont typeface="Wingdings" panose="05000000000000000000" pitchFamily="2" charset="2"/>
              <a:buChar char="§"/>
            </a:pPr>
            <a:r>
              <a:rPr lang="en-US" sz="2000" dirty="0"/>
              <a:t>Develop an interactive </a:t>
            </a:r>
            <a:r>
              <a:rPr lang="en-US" sz="2000" b="1" dirty="0"/>
              <a:t>agricultural analytics dashboard</a:t>
            </a:r>
            <a:r>
              <a:rPr lang="en-US" sz="2000" dirty="0"/>
              <a:t>. </a:t>
            </a:r>
          </a:p>
          <a:p>
            <a:pPr marL="342900" indent="-342900" algn="l">
              <a:lnSpc>
                <a:spcPct val="150000"/>
              </a:lnSpc>
              <a:buFont typeface="Wingdings" panose="05000000000000000000" pitchFamily="2" charset="2"/>
              <a:buChar char="§"/>
            </a:pPr>
            <a:r>
              <a:rPr lang="en-US" sz="2000" dirty="0"/>
              <a:t>Incorporate additional factors such as </a:t>
            </a:r>
            <a:r>
              <a:rPr lang="en-US" sz="2000" b="1" dirty="0"/>
              <a:t>market prices and resource availability</a:t>
            </a:r>
            <a:r>
              <a:rPr lang="en-US" sz="2000" dirty="0"/>
              <a:t>. </a:t>
            </a:r>
          </a:p>
          <a:p>
            <a:pPr marL="342900" indent="-342900" algn="l">
              <a:lnSpc>
                <a:spcPct val="150000"/>
              </a:lnSpc>
              <a:buFont typeface="Wingdings" panose="05000000000000000000" pitchFamily="2" charset="2"/>
              <a:buChar char="§"/>
            </a:pPr>
            <a:r>
              <a:rPr lang="en-US" sz="2000" dirty="0"/>
              <a:t>Use historical data for </a:t>
            </a:r>
            <a:r>
              <a:rPr lang="en-US" sz="2000" b="1" dirty="0"/>
              <a:t>long-term seasonal forecasting and planning</a:t>
            </a:r>
            <a:r>
              <a:rPr lang="en-US" sz="2000" dirty="0"/>
              <a:t>.</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675957" y="1201586"/>
            <a:ext cx="7668473" cy="368702"/>
          </a:xfrm>
          <a:prstGeom prst="rect">
            <a:avLst/>
          </a:prstGeom>
        </p:spPr>
        <p:txBody>
          <a:bodyPr vert="horz" lIns="91440" tIns="45720" rIns="91440" bIns="45720" rtlCol="0">
            <a:normAutofit fontScale="775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2000" dirty="0">
                <a:hlinkClick r:id="rId3"/>
              </a:rPr>
              <a:t>https://github.com/heyKushagra/Seasonal-Agriculture-Performance-Analysis.git</a:t>
            </a:r>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1372075" y="3880025"/>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EE7AAF7-61E8-E236-CFC8-A605EC56D4B7}"/>
              </a:ext>
            </a:extLst>
          </p:cNvPr>
          <p:cNvPicPr>
            <a:picLocks noChangeAspect="1"/>
          </p:cNvPicPr>
          <p:nvPr/>
        </p:nvPicPr>
        <p:blipFill>
          <a:blip r:embed="rId3"/>
          <a:stretch>
            <a:fillRect/>
          </a:stretch>
        </p:blipFill>
        <p:spPr>
          <a:xfrm>
            <a:off x="2331957" y="1435884"/>
            <a:ext cx="7371033" cy="522907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636251" y="1682173"/>
            <a:ext cx="8462618" cy="3089438"/>
          </a:xfrm>
          <a:prstGeom prst="rect">
            <a:avLst/>
          </a:prstGeom>
        </p:spPr>
        <p:txBody>
          <a:bodyPr anchor="ctr">
            <a:normAutofit/>
          </a:bodyPr>
          <a:lstStyle/>
          <a:p>
            <a:pPr algn="ctr"/>
            <a:r>
              <a:rPr lang="en-US" sz="7200" b="1" dirty="0">
                <a:solidFill>
                  <a:schemeClr val="tx1"/>
                </a:solidFill>
                <a:latin typeface="Agrandir Wide Black" panose="00000A05000000000000" pitchFamily="50"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711</TotalTime>
  <Words>425</Words>
  <Application>Microsoft Office PowerPoint</Application>
  <PresentationFormat>Widescreen</PresentationFormat>
  <Paragraphs>56</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Agrandir Wide Black</vt:lpstr>
      <vt:lpstr>Arial</vt:lpstr>
      <vt:lpstr>Calibri</vt:lpstr>
      <vt:lpstr>Google Sans Text</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Kushagra Srivastava</cp:lastModifiedBy>
  <cp:revision>98</cp:revision>
  <dcterms:created xsi:type="dcterms:W3CDTF">2021-07-11T13:13:15Z</dcterms:created>
  <dcterms:modified xsi:type="dcterms:W3CDTF">2026-09-15T18:24:16Z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